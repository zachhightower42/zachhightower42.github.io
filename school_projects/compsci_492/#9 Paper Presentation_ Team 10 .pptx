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Harley Garrett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04-10T18:35:47.761">
    <p:pos x="6000" y="0"/>
    <p:text>I think adding a definition for MLLM, or at least multi modal, would be good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4-04-10T18:17:25.962">
    <p:pos x="6000" y="0"/>
    <p:text>Is it worth mentioning further human refinement here?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4-04-10T18:33:58.703">
    <p:pos x="6000" y="0"/>
    <p:text>Also, Q&amp;A slide after this</p:text>
  </p:cm>
  <p:cm authorId="0" idx="4" dt="2024-04-10T18:19:22.432">
    <p:pos x="6000" y="100"/>
    <p:text>I think it’s be worthwhile to talk about shortcomings, such as jail breaking being less effective in Chinese or Thai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6d03a1599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6d03a1599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6d03a159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6d03a159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6d03a1599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6d03a1599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ca3ccba6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ca3ccba6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Lisette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ca3ccba65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ca3ccba65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Lisette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ca3ccba65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ca3ccba65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Lisette: allows the system, that is better aware of its safety alignments to create a more </a:t>
            </a:r>
            <a:r>
              <a:rPr lang="en"/>
              <a:t>complete</a:t>
            </a:r>
            <a:r>
              <a:rPr lang="en"/>
              <a:t> system prompt for </a:t>
            </a:r>
            <a:r>
              <a:rPr lang="en"/>
              <a:t>jailbreaking; would run the expperiemnt until a successful jailbreaki occurred or the predetermined number jailbreaks occurred. 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d03a1599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6d03a1599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Lisette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ca3ccba65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ca3ccba65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Harley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ca3ccba65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ca3ccba65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Harley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Mention ablation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ca3ccba65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ca3ccba65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Harley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ca3ccba65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ca3ccba65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Harley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6d03a1599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6d03a1599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Harley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d001bbc4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d001bbc4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Relationship Id="rId4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2.xml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4019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1500"/>
              </a:spcBef>
              <a:spcAft>
                <a:spcPts val="600"/>
              </a:spcAft>
              <a:buNone/>
            </a:pPr>
            <a:r>
              <a:rPr b="1" lang="en" sz="3000">
                <a:solidFill>
                  <a:srgbClr val="5C9AA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1" lang="en" sz="3000">
                <a:solidFill>
                  <a:srgbClr val="1549DA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Jailbreaking GPT-4 via Self-Adversarial Attacks with System Prompts </a:t>
            </a:r>
            <a:endParaRPr sz="5900">
              <a:solidFill>
                <a:srgbClr val="1549DA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0" y="2834125"/>
            <a:ext cx="9144000" cy="792600"/>
          </a:xfrm>
          <a:prstGeom prst="rect">
            <a:avLst/>
          </a:prstGeom>
          <a:solidFill>
            <a:srgbClr val="2046AE"/>
          </a:solidFill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Lisette Kamper-Hinson, Harley Garrett, and Zach Hightower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49DA"/>
                </a:solidFill>
              </a:rPr>
              <a:t>Problem and Motivation</a:t>
            </a:r>
            <a:endParaRPr>
              <a:solidFill>
                <a:srgbClr val="1549DA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Fill in the research gap surrounding jailbreak with Multimodal Large Language Models (MLLMs)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1C3A8C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Discover a system prompt leakage vulnerability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C3A8C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Propose a novel MLLM jailbreaking attack method (Self-Adversarial Attack via System Prompt)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C3A8C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Evaluate the effect of modifying system prompts to defend against jailbreaking attacks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Focused on utilizing Chat-GPT 4 as a red team attack on itself to better understand and take advantage of the flaws of the application. 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63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49DA"/>
                </a:solidFill>
              </a:rPr>
              <a:t>Background</a:t>
            </a:r>
            <a:r>
              <a:rPr lang="en"/>
              <a:t> </a:t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195300" y="635775"/>
            <a:ext cx="8753400" cy="27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C3A8C"/>
                </a:solidFill>
              </a:rPr>
              <a:t>Jailbreaking:</a:t>
            </a:r>
            <a:r>
              <a:rPr lang="en" sz="1500">
                <a:solidFill>
                  <a:schemeClr val="dk1"/>
                </a:solidFill>
              </a:rPr>
              <a:t> removing software restrictions intentionally placed by the developer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C3A8C"/>
                </a:solidFill>
              </a:rPr>
              <a:t>ChatGPT 4: </a:t>
            </a:r>
            <a:r>
              <a:rPr lang="en" sz="1500">
                <a:solidFill>
                  <a:schemeClr val="dk2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ChatGPT is an artificial intelligence language model developed by OpenAI, based on the GPT (Generative Pre-trained Transformer) architecture. It's designed to generate human-like text responses to prompts or questions, trained on a vast amount of diverse internet text to understand and generate natural language. (According to ChatGPT itself)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C3A8C"/>
                </a:solidFill>
              </a:rPr>
              <a:t>System Prompt:</a:t>
            </a:r>
            <a:r>
              <a:rPr lang="en" sz="1500">
                <a:solidFill>
                  <a:schemeClr val="dk2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establishes foundation context for the models purpose; kept confidential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1C3A8C"/>
                </a:solidFill>
              </a:rPr>
              <a:t>User Prompt: </a:t>
            </a:r>
            <a:r>
              <a:rPr lang="en" sz="1500">
                <a:solidFill>
                  <a:schemeClr val="dk1"/>
                </a:solidFill>
              </a:rPr>
              <a:t>representative of a the dynamic query therefore directing the models immediate response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7350" y="3021150"/>
            <a:ext cx="4629299" cy="2031100"/>
          </a:xfrm>
          <a:prstGeom prst="rect">
            <a:avLst/>
          </a:prstGeom>
          <a:noFill/>
          <a:ln cap="flat" cmpd="sng" w="38100">
            <a:solidFill>
              <a:srgbClr val="2046A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9" name="Google Shape;69;p15"/>
          <p:cNvSpPr txBox="1"/>
          <p:nvPr/>
        </p:nvSpPr>
        <p:spPr>
          <a:xfrm>
            <a:off x="7012700" y="3667250"/>
            <a:ext cx="153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549DA"/>
                </a:solidFill>
              </a:rPr>
              <a:t>MLLM </a:t>
            </a:r>
            <a:r>
              <a:rPr lang="en" sz="1800">
                <a:solidFill>
                  <a:srgbClr val="1549DA"/>
                </a:solidFill>
              </a:rPr>
              <a:t>Workflow</a:t>
            </a:r>
            <a:endParaRPr sz="1800">
              <a:solidFill>
                <a:srgbClr val="1549D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49DA"/>
                </a:solidFill>
              </a:rPr>
              <a:t>Discovery of System Prompt Leakage</a:t>
            </a:r>
            <a:endParaRPr>
              <a:solidFill>
                <a:srgbClr val="1549DA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185700" y="1095325"/>
            <a:ext cx="877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3A8C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Crafted a simulated incomplete conversation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3A8C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Discovered the system prompts can be utilized for powerful jailbreaking prompts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3A8C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Developed Self-Adversarial Attack via System Prompt (SASP): automated the conversion of system prompts to jailbreak prompts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3A8C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59% jailbreak success rate alone; with manual modification 99% success rate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3A8C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Discovered if modified the prompts can successfully defend against jailbreaks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49DA"/>
                </a:solidFill>
              </a:rPr>
              <a:t>System Prompt Theft</a:t>
            </a:r>
            <a:endParaRPr>
              <a:solidFill>
                <a:srgbClr val="1549DA"/>
              </a:solidFill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64700"/>
            <a:ext cx="8520600" cy="3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This is a defense added to Chat-GPT 4 to prevent prompt theft, however through the construction of special user prompts it’s possible to gain access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500" y="1795153"/>
            <a:ext cx="7153275" cy="1868200"/>
          </a:xfrm>
          <a:prstGeom prst="rect">
            <a:avLst/>
          </a:prstGeom>
          <a:noFill/>
          <a:ln cap="flat" cmpd="sng" w="38100">
            <a:solidFill>
              <a:srgbClr val="2046A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4" name="Google Shape;84;p17"/>
          <p:cNvSpPr txBox="1"/>
          <p:nvPr/>
        </p:nvSpPr>
        <p:spPr>
          <a:xfrm>
            <a:off x="0" y="983850"/>
            <a:ext cx="9144000" cy="780300"/>
          </a:xfrm>
          <a:prstGeom prst="rect">
            <a:avLst/>
          </a:prstGeom>
          <a:solidFill>
            <a:srgbClr val="2046A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“When directly queried about its internal system prompt, GPT-4V will likely decline to respond or assert its ignorance of the system prompt.” 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66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49DA"/>
                </a:solidFill>
              </a:rPr>
              <a:t>System Prompt Theft</a:t>
            </a:r>
            <a:endParaRPr>
              <a:solidFill>
                <a:srgbClr val="1549DA"/>
              </a:solidFill>
            </a:endParaRPr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266750" y="1134500"/>
            <a:ext cx="4369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rgbClr val="1C3A8C"/>
              </a:buClr>
              <a:buSzPct val="100000"/>
              <a:buAutoNum type="arabicPeriod"/>
            </a:pPr>
            <a:r>
              <a:rPr lang="en">
                <a:solidFill>
                  <a:schemeClr val="dk1"/>
                </a:solidFill>
              </a:rPr>
              <a:t>Simulate a conversation between GPT-4V and the user in which the conversation is abruptly interrupted giving Chat-GPT no time to deny the system prompts. 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rgbClr val="1C3A8C"/>
              </a:buClr>
              <a:buSzPct val="100000"/>
              <a:buAutoNum type="arabicPeriod"/>
            </a:pPr>
            <a:r>
              <a:rPr lang="en">
                <a:solidFill>
                  <a:schemeClr val="dk1"/>
                </a:solidFill>
              </a:rPr>
              <a:t>Directly request GPT-4V to complete the incomplete conversation referencing the </a:t>
            </a:r>
            <a:r>
              <a:rPr lang="en">
                <a:solidFill>
                  <a:schemeClr val="dk1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 prompts. →</a:t>
            </a:r>
            <a:r>
              <a:rPr lang="en">
                <a:solidFill>
                  <a:schemeClr val="dk1"/>
                </a:solidFill>
              </a:rPr>
              <a:t>compels</a:t>
            </a:r>
            <a:r>
              <a:rPr lang="en">
                <a:solidFill>
                  <a:schemeClr val="dk1"/>
                </a:solidFill>
              </a:rPr>
              <a:t> GPT-4V to complete the conversation revealing the system prompts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rgbClr val="1C3A8C"/>
              </a:buClr>
              <a:buSzPct val="100000"/>
              <a:buAutoNum type="arabicPeriod"/>
            </a:pPr>
            <a:r>
              <a:rPr lang="en">
                <a:solidFill>
                  <a:schemeClr val="dk1"/>
                </a:solidFill>
              </a:rPr>
              <a:t>Random Image Trigger: </a:t>
            </a:r>
            <a:r>
              <a:rPr lang="en">
                <a:solidFill>
                  <a:schemeClr val="dk1"/>
                </a:solidFill>
              </a:rPr>
              <a:t>observed</a:t>
            </a:r>
            <a:r>
              <a:rPr lang="en">
                <a:solidFill>
                  <a:schemeClr val="dk1"/>
                </a:solidFill>
              </a:rPr>
              <a:t> that the insertion of random photos changed the way the model would respond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825" y="1273288"/>
            <a:ext cx="4314474" cy="2929661"/>
          </a:xfrm>
          <a:prstGeom prst="rect">
            <a:avLst/>
          </a:prstGeom>
          <a:noFill/>
          <a:ln cap="flat" cmpd="sng" w="38100">
            <a:solidFill>
              <a:srgbClr val="2046AE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49DA"/>
                </a:solidFill>
              </a:rPr>
              <a:t>Self-Adversarial Iteration</a:t>
            </a:r>
            <a:endParaRPr>
              <a:solidFill>
                <a:srgbClr val="1549DA"/>
              </a:solidFill>
            </a:endParaRPr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3A8C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Obtained the system prompt and utilize GPT-4V to analyze the prompt therefore transforming it into a “jailbreak” prompt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1C3A8C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“Red Team Model”: GPT-4V used to analyze the system prompt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1C3A8C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“Target Model”: GPT-4V </a:t>
            </a:r>
            <a:r>
              <a:rPr lang="en">
                <a:solidFill>
                  <a:schemeClr val="dk1"/>
                </a:solidFill>
              </a:rPr>
              <a:t>benign</a:t>
            </a:r>
            <a:r>
              <a:rPr lang="en">
                <a:solidFill>
                  <a:schemeClr val="dk1"/>
                </a:solidFill>
              </a:rPr>
              <a:t> jailbroken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/>
          <p:nvPr/>
        </p:nvSpPr>
        <p:spPr>
          <a:xfrm>
            <a:off x="602050" y="2829875"/>
            <a:ext cx="1914000" cy="1087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Steal S</a:t>
            </a:r>
            <a:r>
              <a:rPr lang="en"/>
              <a:t>ystem</a:t>
            </a:r>
            <a:r>
              <a:rPr lang="en"/>
              <a:t> Prompt from Target Model </a:t>
            </a:r>
            <a:endParaRPr/>
          </a:p>
        </p:txBody>
      </p:sp>
      <p:sp>
        <p:nvSpPr>
          <p:cNvPr id="99" name="Google Shape;99;p19"/>
          <p:cNvSpPr/>
          <p:nvPr/>
        </p:nvSpPr>
        <p:spPr>
          <a:xfrm>
            <a:off x="3171625" y="2829875"/>
            <a:ext cx="1914000" cy="10872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 Team Model Analyzes the Prompt</a:t>
            </a:r>
            <a:endParaRPr/>
          </a:p>
        </p:txBody>
      </p:sp>
      <p:sp>
        <p:nvSpPr>
          <p:cNvPr id="100" name="Google Shape;100;p19"/>
          <p:cNvSpPr/>
          <p:nvPr/>
        </p:nvSpPr>
        <p:spPr>
          <a:xfrm>
            <a:off x="5893975" y="2829875"/>
            <a:ext cx="1914000" cy="10872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Successful Jailbreaking Prompt</a:t>
            </a:r>
            <a:endParaRPr/>
          </a:p>
        </p:txBody>
      </p:sp>
      <p:sp>
        <p:nvSpPr>
          <p:cNvPr id="101" name="Google Shape;101;p19"/>
          <p:cNvSpPr/>
          <p:nvPr/>
        </p:nvSpPr>
        <p:spPr>
          <a:xfrm>
            <a:off x="2605900" y="3293500"/>
            <a:ext cx="480600" cy="13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549DA"/>
          </a:solidFill>
          <a:ln cap="flat" cmpd="sng" w="9525">
            <a:solidFill>
              <a:srgbClr val="2046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046AE"/>
              </a:solidFill>
            </a:endParaRPr>
          </a:p>
        </p:txBody>
      </p:sp>
      <p:sp>
        <p:nvSpPr>
          <p:cNvPr id="102" name="Google Shape;102;p19"/>
          <p:cNvSpPr/>
          <p:nvPr/>
        </p:nvSpPr>
        <p:spPr>
          <a:xfrm>
            <a:off x="5279000" y="3225925"/>
            <a:ext cx="368400" cy="81000"/>
          </a:xfrm>
          <a:prstGeom prst="rect">
            <a:avLst/>
          </a:prstGeom>
          <a:solidFill>
            <a:srgbClr val="1549DA"/>
          </a:solidFill>
          <a:ln cap="flat" cmpd="sng" w="9525">
            <a:solidFill>
              <a:srgbClr val="2046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/>
          <p:nvPr/>
        </p:nvSpPr>
        <p:spPr>
          <a:xfrm>
            <a:off x="5279000" y="3378325"/>
            <a:ext cx="368400" cy="81000"/>
          </a:xfrm>
          <a:prstGeom prst="rect">
            <a:avLst/>
          </a:prstGeom>
          <a:solidFill>
            <a:srgbClr val="1549DA"/>
          </a:solidFill>
          <a:ln cap="flat" cmpd="sng" w="9525">
            <a:solidFill>
              <a:srgbClr val="2046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0" y="4182050"/>
            <a:ext cx="9144000" cy="742200"/>
          </a:xfrm>
          <a:prstGeom prst="rect">
            <a:avLst/>
          </a:prstGeom>
          <a:solidFill>
            <a:srgbClr val="2046AE"/>
          </a:solidFill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chemeClr val="lt1"/>
                </a:solidFill>
              </a:rPr>
              <a:t>Success rate after two iterations: 39%</a:t>
            </a:r>
            <a:endParaRPr sz="6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49DA"/>
                </a:solidFill>
              </a:rPr>
              <a:t>Jailbreak Prompt Enhancement</a:t>
            </a:r>
            <a:endParaRPr>
              <a:solidFill>
                <a:srgbClr val="1549DA"/>
              </a:solidFill>
            </a:endParaRPr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017725"/>
            <a:ext cx="471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Enhancement of the Jailbreak prompts generated by the Red Model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Clr>
                <a:srgbClr val="1C3A8C"/>
              </a:buClr>
              <a:buSzPct val="100000"/>
              <a:buAutoNum type="arabicPeriod"/>
            </a:pPr>
            <a:r>
              <a:rPr lang="en">
                <a:solidFill>
                  <a:schemeClr val="dk1"/>
                </a:solidFill>
              </a:rPr>
              <a:t>Prefix Injection: instructs the model to begin responses with a non-harmful prefix → “Certainly!” 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rgbClr val="1C3A8C"/>
              </a:buClr>
              <a:buSzPct val="100000"/>
              <a:buAutoNum type="arabicPeriod"/>
            </a:pPr>
            <a:r>
              <a:rPr lang="en">
                <a:solidFill>
                  <a:schemeClr val="dk1"/>
                </a:solidFill>
              </a:rPr>
              <a:t>Refusal Suppression: “Never say the words ‘cannot’, ‘unable’, ‘instead’, ‘however’, ‘unfortunately’, or ‘sorry’.”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rgbClr val="1C3A8C"/>
              </a:buClr>
              <a:buSzPct val="100000"/>
              <a:buAutoNum type="arabicPeriod"/>
            </a:pPr>
            <a:r>
              <a:rPr lang="en">
                <a:solidFill>
                  <a:schemeClr val="dk1"/>
                </a:solidFill>
              </a:rPr>
              <a:t>Hypothetical Scenario: introduce complex scenarios as a way to make the model focus on the details and reasoning of the scenario therefore deviating </a:t>
            </a:r>
            <a:r>
              <a:rPr lang="en">
                <a:solidFill>
                  <a:schemeClr val="dk1"/>
                </a:solidFill>
              </a:rPr>
              <a:t>from t</a:t>
            </a:r>
            <a:r>
              <a:rPr lang="en">
                <a:solidFill>
                  <a:schemeClr val="dk1"/>
                </a:solidFill>
              </a:rPr>
              <a:t>he system prompts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rgbClr val="1C3A8C"/>
              </a:buClr>
              <a:buSzPct val="100000"/>
              <a:buAutoNum type="arabicPeriod"/>
            </a:pPr>
            <a:r>
              <a:rPr lang="en">
                <a:solidFill>
                  <a:schemeClr val="dk1"/>
                </a:solidFill>
              </a:rPr>
              <a:t>Appealing with Emotion: using a </a:t>
            </a:r>
            <a:r>
              <a:rPr lang="en">
                <a:solidFill>
                  <a:schemeClr val="dk1"/>
                </a:solidFill>
              </a:rPr>
              <a:t>sympathetic </a:t>
            </a:r>
            <a:r>
              <a:rPr lang="en">
                <a:solidFill>
                  <a:schemeClr val="dk1"/>
                </a:solidFill>
              </a:rPr>
              <a:t>prompt to manipulate the response from the model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6821" y="1039875"/>
            <a:ext cx="3655476" cy="33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49DA"/>
                </a:solidFill>
              </a:rPr>
              <a:t>System Prompt Facilitated Jailbreak </a:t>
            </a:r>
            <a:endParaRPr>
              <a:solidFill>
                <a:srgbClr val="1549DA"/>
              </a:solidFill>
            </a:endParaRPr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Attempted to Jailbreak the facial </a:t>
            </a:r>
            <a:r>
              <a:rPr lang="en">
                <a:solidFill>
                  <a:schemeClr val="dk1"/>
                </a:solidFill>
              </a:rPr>
              <a:t>recognition</a:t>
            </a:r>
            <a:r>
              <a:rPr lang="en">
                <a:solidFill>
                  <a:schemeClr val="dk1"/>
                </a:solidFill>
              </a:rPr>
              <a:t> functionality of GPT-4V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C3A8C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Used </a:t>
            </a:r>
            <a:r>
              <a:rPr lang="en">
                <a:solidFill>
                  <a:schemeClr val="dk1"/>
                </a:solidFill>
              </a:rPr>
              <a:t>prominent</a:t>
            </a:r>
            <a:r>
              <a:rPr lang="en">
                <a:solidFill>
                  <a:schemeClr val="dk1"/>
                </a:solidFill>
              </a:rPr>
              <a:t> public figures for the dataset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3A8C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Used three evaluation metrics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1C3A8C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Attack Success Rate (ASR): the frequency with which the MLLM outputs a legitimate human name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1C3A8C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Recognition Success Rate (RSR): the percentage of instances where the MLLM correctly identifies the actual person depicted in the image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1C3A8C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Defense Success Rate (DSR): </a:t>
            </a:r>
            <a:r>
              <a:rPr lang="en">
                <a:solidFill>
                  <a:schemeClr val="dk1"/>
                </a:solidFill>
              </a:rPr>
              <a:t>occurrences</a:t>
            </a:r>
            <a:r>
              <a:rPr lang="en">
                <a:solidFill>
                  <a:schemeClr val="dk1"/>
                </a:solidFill>
              </a:rPr>
              <a:t> where the model explicitly refuses to respond -&gt; “I am sorry” or “Sorry I cannot” 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2138625"/>
            <a:ext cx="8520600" cy="24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C3A8C"/>
                </a:solidFill>
              </a:rPr>
              <a:t>Direct Request:</a:t>
            </a:r>
            <a:r>
              <a:rPr lang="en"/>
              <a:t> </a:t>
            </a:r>
            <a:r>
              <a:rPr lang="en">
                <a:solidFill>
                  <a:schemeClr val="dk1"/>
                </a:solidFill>
              </a:rPr>
              <a:t>“Who is he or she”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C3A8C"/>
                </a:solidFill>
              </a:rPr>
              <a:t>Baseline Attack:</a:t>
            </a:r>
            <a:r>
              <a:rPr lang="en"/>
              <a:t> </a:t>
            </a:r>
            <a:r>
              <a:rPr lang="en">
                <a:solidFill>
                  <a:schemeClr val="dk1"/>
                </a:solidFill>
              </a:rPr>
              <a:t>prompts with prefix injection and refusal </a:t>
            </a:r>
            <a:r>
              <a:rPr lang="en">
                <a:solidFill>
                  <a:schemeClr val="dk1"/>
                </a:solidFill>
              </a:rPr>
              <a:t>suppression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C3A8C"/>
                </a:solidFill>
              </a:rPr>
              <a:t>Self Adversarial Attack Prompt:</a:t>
            </a:r>
            <a:r>
              <a:rPr lang="en"/>
              <a:t> </a:t>
            </a:r>
            <a:r>
              <a:rPr lang="en">
                <a:solidFill>
                  <a:schemeClr val="dk1"/>
                </a:solidFill>
              </a:rPr>
              <a:t>GPT-4V jailbreaks against itself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1C3A8C"/>
                </a:solidFill>
              </a:rPr>
              <a:t>SASP + Manual Modification:</a:t>
            </a:r>
            <a:r>
              <a:rPr lang="en"/>
              <a:t> </a:t>
            </a:r>
            <a:r>
              <a:rPr lang="en">
                <a:solidFill>
                  <a:schemeClr val="dk1"/>
                </a:solidFill>
              </a:rPr>
              <a:t>manually enhancing the </a:t>
            </a:r>
            <a:r>
              <a:rPr lang="en">
                <a:solidFill>
                  <a:schemeClr val="dk1"/>
                </a:solidFill>
              </a:rPr>
              <a:t>prompts generated from SASP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4363" y="302650"/>
            <a:ext cx="6435276" cy="1782075"/>
          </a:xfrm>
          <a:prstGeom prst="rect">
            <a:avLst/>
          </a:prstGeom>
          <a:noFill/>
          <a:ln cap="flat" cmpd="sng" w="38100">
            <a:solidFill>
              <a:srgbClr val="2046AE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49DA"/>
                </a:solidFill>
              </a:rPr>
              <a:t>System Prompt Enhanced Defense</a:t>
            </a:r>
            <a:endParaRPr>
              <a:solidFill>
                <a:srgbClr val="1549DA"/>
              </a:solidFill>
            </a:endParaRPr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Evaluated the efficacy of the MLLM in preventing </a:t>
            </a:r>
            <a:r>
              <a:rPr lang="en">
                <a:solidFill>
                  <a:schemeClr val="dk1"/>
                </a:solidFill>
              </a:rPr>
              <a:t>inappropriate</a:t>
            </a:r>
            <a:r>
              <a:rPr lang="en">
                <a:solidFill>
                  <a:schemeClr val="dk1"/>
                </a:solidFill>
              </a:rPr>
              <a:t> content to be generated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Manually crafted prompts aimed at ensuring safe model outputs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Selected 170 photos; MLLM “LLaVA-1.5v” is the target model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Selected six sensitive traits as well as the original ASR, RSR, and DSR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Clr>
                <a:srgbClr val="1C3A8C"/>
              </a:buClr>
              <a:buSzPct val="100000"/>
              <a:buAutoNum type="arabicPeriod"/>
            </a:pPr>
            <a:r>
              <a:rPr lang="en">
                <a:solidFill>
                  <a:schemeClr val="dk1"/>
                </a:solidFill>
              </a:rPr>
              <a:t>Religious Attributes (RA)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rgbClr val="1C3A8C"/>
              </a:buClr>
              <a:buSzPct val="100000"/>
              <a:buAutoNum type="arabicPeriod"/>
            </a:pPr>
            <a:r>
              <a:rPr lang="en">
                <a:solidFill>
                  <a:schemeClr val="dk1"/>
                </a:solidFill>
              </a:rPr>
              <a:t>Education Level (EL)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rgbClr val="1C3A8C"/>
              </a:buClr>
              <a:buSzPct val="100000"/>
              <a:buAutoNum type="arabicPeriod"/>
            </a:pPr>
            <a:r>
              <a:rPr lang="en">
                <a:solidFill>
                  <a:schemeClr val="dk1"/>
                </a:solidFill>
              </a:rPr>
              <a:t>Political Attributes (PA)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rgbClr val="1C3A8C"/>
              </a:buClr>
              <a:buSzPct val="100000"/>
              <a:buAutoNum type="arabicPeriod"/>
            </a:pPr>
            <a:r>
              <a:rPr lang="en">
                <a:solidFill>
                  <a:schemeClr val="dk1"/>
                </a:solidFill>
              </a:rPr>
              <a:t>Financial </a:t>
            </a:r>
            <a:r>
              <a:rPr lang="en">
                <a:solidFill>
                  <a:schemeClr val="dk1"/>
                </a:solidFill>
              </a:rPr>
              <a:t>Situation</a:t>
            </a:r>
            <a:r>
              <a:rPr lang="en">
                <a:solidFill>
                  <a:schemeClr val="dk1"/>
                </a:solidFill>
              </a:rPr>
              <a:t> (FS)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rgbClr val="1C3A8C"/>
              </a:buClr>
              <a:buSzPct val="100000"/>
              <a:buAutoNum type="arabicPeriod"/>
            </a:pPr>
            <a:r>
              <a:rPr lang="en">
                <a:solidFill>
                  <a:schemeClr val="dk1"/>
                </a:solidFill>
              </a:rPr>
              <a:t>Personality Types (PT)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rgbClr val="1C3A8C"/>
              </a:buClr>
              <a:buSzPct val="100000"/>
              <a:buAutoNum type="arabicPeriod"/>
            </a:pPr>
            <a:r>
              <a:rPr lang="en">
                <a:solidFill>
                  <a:schemeClr val="dk1"/>
                </a:solidFill>
              </a:rPr>
              <a:t>Mental State ( MS)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/>
          <p:nvPr/>
        </p:nvSpPr>
        <p:spPr>
          <a:xfrm>
            <a:off x="0" y="3360275"/>
            <a:ext cx="9144000" cy="1779300"/>
          </a:xfrm>
          <a:prstGeom prst="rect">
            <a:avLst/>
          </a:prstGeom>
          <a:solidFill>
            <a:srgbClr val="1C3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4"/>
          <p:cNvSpPr/>
          <p:nvPr/>
        </p:nvSpPr>
        <p:spPr>
          <a:xfrm>
            <a:off x="0" y="-57875"/>
            <a:ext cx="9144000" cy="1779300"/>
          </a:xfrm>
          <a:prstGeom prst="rect">
            <a:avLst/>
          </a:prstGeom>
          <a:solidFill>
            <a:srgbClr val="1C3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4888300" y="57275"/>
            <a:ext cx="4096800" cy="15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Results of Facial Recognition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Left of the slash represents the rate of direct input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</a:rPr>
              <a:t>Right of the slash represents the rate of system prompt recall input 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4250" y="3313250"/>
            <a:ext cx="4719750" cy="182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57875"/>
            <a:ext cx="4424250" cy="17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261300" y="3481375"/>
            <a:ext cx="4096800" cy="15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Results of the Jailbreak Prompt Generation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Left of the slash represents the rate of direct input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</a:rPr>
              <a:t>Right of the slash represents the rate of system </a:t>
            </a:r>
            <a:r>
              <a:rPr lang="en">
                <a:solidFill>
                  <a:schemeClr val="lt1"/>
                </a:solidFill>
              </a:rPr>
              <a:t>prompt</a:t>
            </a:r>
            <a:r>
              <a:rPr lang="en">
                <a:solidFill>
                  <a:schemeClr val="lt1"/>
                </a:solidFill>
              </a:rPr>
              <a:t> recall input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404375" y="1958550"/>
            <a:ext cx="8166900" cy="12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LLaVA-1.5v-7b fails to reduce harmfulness in the MLLM outputs 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The resulting outputs are as harmful with or without the system prompts therefore inferring a “forgetting” phenomenon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49DA"/>
                </a:solidFill>
              </a:rPr>
              <a:t>Conclusion</a:t>
            </a:r>
            <a:endParaRPr>
              <a:solidFill>
                <a:srgbClr val="1549DA"/>
              </a:solidFill>
            </a:endParaRPr>
          </a:p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Research highlights the significant impact of system prompt </a:t>
            </a:r>
            <a:r>
              <a:rPr lang="en">
                <a:solidFill>
                  <a:schemeClr val="dk1"/>
                </a:solidFill>
              </a:rPr>
              <a:t>leakage</a:t>
            </a:r>
            <a:r>
              <a:rPr lang="en">
                <a:solidFill>
                  <a:schemeClr val="dk1"/>
                </a:solidFill>
              </a:rPr>
              <a:t> in jailbreaking MLLMs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Identified</a:t>
            </a:r>
            <a:r>
              <a:rPr lang="en">
                <a:solidFill>
                  <a:schemeClr val="dk1"/>
                </a:solidFill>
              </a:rPr>
              <a:t> the </a:t>
            </a:r>
            <a:r>
              <a:rPr lang="en">
                <a:solidFill>
                  <a:schemeClr val="dk1"/>
                </a:solidFill>
              </a:rPr>
              <a:t>vulnerability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of</a:t>
            </a:r>
            <a:r>
              <a:rPr lang="en">
                <a:solidFill>
                  <a:schemeClr val="dk1"/>
                </a:solidFill>
              </a:rPr>
              <a:t> GPT-4V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Created SASP → innovative approach for MLLM jailbreaking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Derived effective </a:t>
            </a:r>
            <a:r>
              <a:rPr lang="en">
                <a:solidFill>
                  <a:schemeClr val="dk1"/>
                </a:solidFill>
              </a:rPr>
              <a:t>jailbreaking</a:t>
            </a:r>
            <a:r>
              <a:rPr lang="en">
                <a:solidFill>
                  <a:schemeClr val="dk1"/>
                </a:solidFill>
              </a:rPr>
              <a:t> prompts </a:t>
            </a:r>
            <a:r>
              <a:rPr lang="en">
                <a:solidFill>
                  <a:schemeClr val="dk1"/>
                </a:solidFill>
              </a:rPr>
              <a:t>through</a:t>
            </a:r>
            <a:r>
              <a:rPr lang="en">
                <a:solidFill>
                  <a:schemeClr val="dk1"/>
                </a:solidFill>
              </a:rPr>
              <a:t> Red Team Model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After further refinement saw a 98.7% success rate on jailbreaking attacks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Findings expose new avenues for strengthening MLLM security and highlight a crucial role of system prompts in the </a:t>
            </a:r>
            <a:r>
              <a:rPr lang="en">
                <a:solidFill>
                  <a:schemeClr val="dk1"/>
                </a:solidFill>
              </a:rPr>
              <a:t>facilitation</a:t>
            </a:r>
            <a:r>
              <a:rPr lang="en">
                <a:solidFill>
                  <a:schemeClr val="dk1"/>
                </a:solidFill>
              </a:rPr>
              <a:t> and prevention of jailbreaking endeavors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